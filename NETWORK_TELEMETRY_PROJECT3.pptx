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307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5328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TELEMETRY &amp; MONITORING FRAMEWORK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326880" y="64739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Networks Project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364224"/>
            <a:ext cx="11201400" cy="0"/>
          </a:xfrm>
          <a:prstGeom prst="line">
            <a:avLst/>
          </a:prstGeom>
          <a:noFill/>
          <a:ln w="1016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8872"/>
            <a:ext cx="12191695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21792" y="384048"/>
            <a:ext cx="9966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Network Telemetry &amp; Monitoring Framework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D8E5F2"/>
                </a:solidFill>
              </a:rPr>
              <a:t>Standardized collection, transport, storage, visualization and alerting of network performance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2148840" cy="246888"/>
          </a:xfrm>
          <a:prstGeom prst="roundRect">
            <a:avLst>
              <a:gd name="adj" fmla="val 22222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604772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PROBLEM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</a:rPr>
              <a:t>Network performance data is distributed across routers/switches and is difficult to monitor continuously without a unified telemetry pipeline.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" y="292608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B6472"/>
                </a:solidFill>
              </a:rPr>
              <a:t>Key issues: fragmented device data • no single monitoring view • latency/performance problems can be missed • historical analysis needs persistent storage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5989320" y="1572768"/>
            <a:ext cx="2148840" cy="246888"/>
          </a:xfrm>
          <a:prstGeom prst="roundRect">
            <a:avLst>
              <a:gd name="adj" fmla="val 22222"/>
            </a:avLst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62472" y="1604772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OBJECTIVES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016752" y="1938528"/>
            <a:ext cx="475488" cy="420624"/>
          </a:xfrm>
          <a:prstGeom prst="roundRect">
            <a:avLst>
              <a:gd name="adj" fmla="val 15217"/>
            </a:avLst>
          </a:prstGeom>
          <a:solidFill>
            <a:srgbClr val="E5F3FF"/>
          </a:solidFill>
          <a:ln w="12700">
            <a:solidFill>
              <a:srgbClr val="C9E7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016752" y="201168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69AA"/>
                </a:solidFill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47688" y="194767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Collect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662672" y="1938528"/>
            <a:ext cx="3730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72033"/>
                </a:solidFill>
              </a:rPr>
              <a:t>Poll SNMP metrics at regular intervals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016752" y="2651760"/>
            <a:ext cx="475488" cy="420624"/>
          </a:xfrm>
          <a:prstGeom prst="roundRect">
            <a:avLst>
              <a:gd name="adj" fmla="val 15217"/>
            </a:avLst>
          </a:prstGeom>
          <a:solidFill>
            <a:srgbClr val="E5F3FF"/>
          </a:solidFill>
          <a:ln w="12700">
            <a:solidFill>
              <a:srgbClr val="C9E7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016752" y="272491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69AA"/>
                </a:solidFill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47688" y="266090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Process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662672" y="2651760"/>
            <a:ext cx="3730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72033"/>
                </a:solidFill>
              </a:rPr>
              <a:t>Convert counters into bandwidth &amp; utilization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016752" y="3364992"/>
            <a:ext cx="475488" cy="420624"/>
          </a:xfrm>
          <a:prstGeom prst="roundRect">
            <a:avLst>
              <a:gd name="adj" fmla="val 15217"/>
            </a:avLst>
          </a:prstGeom>
          <a:solidFill>
            <a:srgbClr val="EEF7F0"/>
          </a:solidFill>
          <a:ln w="12700">
            <a:solidFill>
              <a:srgbClr val="D5EB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016752" y="343814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803D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47688" y="337413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Transport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662672" y="3364992"/>
            <a:ext cx="3730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72033"/>
                </a:solidFill>
              </a:rPr>
              <a:t>Stream telemetry to a central backend using gRPC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6016752" y="4078224"/>
            <a:ext cx="475488" cy="420624"/>
          </a:xfrm>
          <a:prstGeom prst="roundRect">
            <a:avLst>
              <a:gd name="adj" fmla="val 15217"/>
            </a:avLst>
          </a:prstGeom>
          <a:solidFill>
            <a:srgbClr val="EEF7F0"/>
          </a:solidFill>
          <a:ln w="12700">
            <a:solidFill>
              <a:srgbClr val="D5EB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016752" y="415137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803D"/>
                </a:solidFill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47688" y="408736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Visualize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662672" y="4078224"/>
            <a:ext cx="3730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72033"/>
                </a:solidFill>
              </a:rPr>
              <a:t>Store history and monitor it through REST + Grafana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6016752" y="4791456"/>
            <a:ext cx="475488" cy="420624"/>
          </a:xfrm>
          <a:prstGeom prst="roundRect">
            <a:avLst>
              <a:gd name="adj" fmla="val 15217"/>
            </a:avLst>
          </a:prstGeom>
          <a:solidFill>
            <a:srgbClr val="EEF7F0"/>
          </a:solidFill>
          <a:ln w="12700">
            <a:solidFill>
              <a:srgbClr val="D5EB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016752" y="48646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803D"/>
                </a:solidFill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47688" y="48006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Alert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662672" y="4791456"/>
            <a:ext cx="3730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72033"/>
                </a:solidFill>
              </a:rPr>
              <a:t>Trigger threshold-based Grafana alerts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640080" y="58338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i="1" dirty="0">
                <a:solidFill>
                  <a:srgbClr val="5B6472"/>
                </a:solidFill>
              </a:rPr>
              <a:t>Reference: RFC 9232 • Implementation technologies: Python, SNMP, gRPC, PostgreSQL, REST, Grafana, Docker</a:t>
            </a:r>
            <a:endParaRPr lang="en-US" sz="103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38328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/ Mechanism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9496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How metrics move from simulated SNMP devices to storage, APIs and dashboards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EEF4FF"/>
          </a:solidFill>
          <a:ln w="12700">
            <a:solidFill>
              <a:srgbClr val="C9DD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73152" cy="100584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22376" y="1965960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SNMP Devices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72033"/>
                </a:solidFill>
              </a:rPr>
              <a:t>snmp-device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172033"/>
                </a:solidFill>
              </a:rPr>
              <a:t>snmp-device-2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2834640" y="1828800"/>
            <a:ext cx="1920240" cy="1005840"/>
          </a:xfrm>
          <a:prstGeom prst="roundRect">
            <a:avLst>
              <a:gd name="adj" fmla="val 5455"/>
            </a:avLst>
          </a:prstGeom>
          <a:solidFill>
            <a:srgbClr val="ECF8F2"/>
          </a:solidFill>
          <a:ln w="12700">
            <a:solidFill>
              <a:srgbClr val="CDEB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834640" y="1828800"/>
            <a:ext cx="73152" cy="10058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990088" y="1965960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Python Collector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53512" y="2286000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72033"/>
                </a:solidFill>
              </a:rPr>
              <a:t>SNMP polling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172033"/>
                </a:solidFill>
              </a:rPr>
              <a:t>+ latency ping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5230368" y="1828800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F3EEFF"/>
          </a:solidFill>
          <a:ln w="12700">
            <a:solidFill>
              <a:srgbClr val="E2D7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230368" y="1828800"/>
            <a:ext cx="73152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385816" y="196596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gRPC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49240" y="2286000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72033"/>
                </a:solidFill>
              </a:rPr>
              <a:t>SendMetrics()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172033"/>
                </a:solidFill>
              </a:rPr>
              <a:t>protobuf contract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7479792" y="1828800"/>
            <a:ext cx="1938528" cy="1005840"/>
          </a:xfrm>
          <a:prstGeom prst="roundRect">
            <a:avLst>
              <a:gd name="adj" fmla="val 5455"/>
            </a:avLst>
          </a:prstGeom>
          <a:solidFill>
            <a:srgbClr val="FFF5EA"/>
          </a:solidFill>
          <a:ln w="12700">
            <a:solidFill>
              <a:srgbClr val="F2DF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479792" y="1828800"/>
            <a:ext cx="73152" cy="10058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635240" y="19659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Backend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98664" y="228600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72033"/>
                </a:solidFill>
              </a:rPr>
              <a:t>Receive + process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172033"/>
                </a:solidFill>
              </a:rPr>
              <a:t>store telemetry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9912096" y="1828800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EEF6FF"/>
          </a:solidFill>
          <a:ln w="12700">
            <a:solidFill>
              <a:srgbClr val="CFDF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912096" y="1828800"/>
            <a:ext cx="73152" cy="100584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067544" y="1965960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30968" y="228600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72033"/>
                </a:solidFill>
              </a:rPr>
              <a:t>Historical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172033"/>
                </a:solidFill>
              </a:rPr>
              <a:t>telemetry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2395728" y="2340864"/>
            <a:ext cx="438912" cy="0"/>
          </a:xfrm>
          <a:prstGeom prst="line">
            <a:avLst/>
          </a:prstGeom>
          <a:noFill/>
          <a:ln w="27940">
            <a:solidFill>
              <a:srgbClr val="1769A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54880" y="2340864"/>
            <a:ext cx="475488" cy="0"/>
          </a:xfrm>
          <a:prstGeom prst="line">
            <a:avLst/>
          </a:prstGeom>
          <a:noFill/>
          <a:ln w="27940">
            <a:solidFill>
              <a:srgbClr val="1769A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013448" y="2340864"/>
            <a:ext cx="466344" cy="0"/>
          </a:xfrm>
          <a:prstGeom prst="line">
            <a:avLst/>
          </a:prstGeom>
          <a:noFill/>
          <a:ln w="27940">
            <a:solidFill>
              <a:srgbClr val="1769A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418320" y="2340864"/>
            <a:ext cx="493776" cy="0"/>
          </a:xfrm>
          <a:prstGeom prst="line">
            <a:avLst/>
          </a:prstGeom>
          <a:noFill/>
          <a:ln w="27940">
            <a:solidFill>
              <a:srgbClr val="1769A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479792" y="3767328"/>
            <a:ext cx="1938528" cy="96012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626096" y="392277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FastAPI REST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35240" y="423367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72033"/>
                </a:solidFill>
              </a:rPr>
              <a:t>/telemetry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172033"/>
                </a:solidFill>
              </a:rPr>
              <a:t>/telemetry/export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8430768" y="2834640"/>
            <a:ext cx="0" cy="932688"/>
          </a:xfrm>
          <a:prstGeom prst="line">
            <a:avLst/>
          </a:prstGeom>
          <a:noFill/>
          <a:ln w="27940">
            <a:solidFill>
              <a:srgbClr val="EA580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9921240" y="3767328"/>
            <a:ext cx="1728216" cy="96012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0076688" y="392277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Grafana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58400" y="4233672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172033"/>
                </a:solidFill>
              </a:rPr>
              <a:t>dashboards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172033"/>
                </a:solidFill>
              </a:rPr>
              <a:t>+ alert rules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10780776" y="2834640"/>
            <a:ext cx="0" cy="932688"/>
          </a:xfrm>
          <a:prstGeom prst="line">
            <a:avLst/>
          </a:prstGeom>
          <a:noFill/>
          <a:ln w="27940">
            <a:solidFill>
              <a:srgbClr val="1769A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94360" y="3730752"/>
            <a:ext cx="1783080" cy="246888"/>
          </a:xfrm>
          <a:prstGeom prst="roundRect">
            <a:avLst>
              <a:gd name="adj" fmla="val 2222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67512" y="3762756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KEY MECHANISMS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603504" y="4087368"/>
            <a:ext cx="208483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749808" y="4151376"/>
            <a:ext cx="347472" cy="347472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749808" y="4142232"/>
            <a:ext cx="347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88720" y="4233672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0D1B2A"/>
                </a:solidFill>
              </a:rPr>
              <a:t>SNMP / OIDs</a:t>
            </a:r>
            <a:endParaRPr lang="en-US" sz="1230" dirty="0"/>
          </a:p>
        </p:txBody>
      </p:sp>
      <p:sp>
        <p:nvSpPr>
          <p:cNvPr id="42" name="Text 40"/>
          <p:cNvSpPr/>
          <p:nvPr/>
        </p:nvSpPr>
        <p:spPr>
          <a:xfrm>
            <a:off x="768096" y="4553712"/>
            <a:ext cx="175564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72033"/>
                </a:solidFill>
              </a:rPr>
              <a:t>ifHCInOctets, ifHCOutOctets, ifHighSpeed are queried from each device.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2852928" y="4087368"/>
            <a:ext cx="208483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2962656" y="4128516"/>
            <a:ext cx="347472" cy="347472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2952681" y="4123944"/>
            <a:ext cx="347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438144" y="4233672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0D1B2A"/>
                </a:solidFill>
              </a:rPr>
              <a:t>Metric calculation</a:t>
            </a:r>
            <a:endParaRPr lang="en-US" sz="1230" dirty="0"/>
          </a:p>
        </p:txBody>
      </p:sp>
      <p:sp>
        <p:nvSpPr>
          <p:cNvPr id="47" name="Text 45"/>
          <p:cNvSpPr/>
          <p:nvPr/>
        </p:nvSpPr>
        <p:spPr>
          <a:xfrm>
            <a:off x="3017520" y="4553712"/>
            <a:ext cx="175564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72033"/>
                </a:solidFill>
              </a:rPr>
              <a:t>Δcounter × 8 / Δtime → bps; bps / link capacity → utilization %.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5102352" y="4087368"/>
            <a:ext cx="208483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5207092" y="4169664"/>
            <a:ext cx="347472" cy="34747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5212080" y="4178808"/>
            <a:ext cx="347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687568" y="4233672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0D1B2A"/>
                </a:solidFill>
              </a:rPr>
              <a:t>Latency</a:t>
            </a:r>
            <a:endParaRPr lang="en-US" sz="1230" dirty="0"/>
          </a:p>
        </p:txBody>
      </p:sp>
      <p:sp>
        <p:nvSpPr>
          <p:cNvPr id="52" name="Text 50"/>
          <p:cNvSpPr/>
          <p:nvPr/>
        </p:nvSpPr>
        <p:spPr>
          <a:xfrm>
            <a:off x="5266944" y="4553712"/>
            <a:ext cx="175564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72033"/>
                </a:solidFill>
              </a:rPr>
              <a:t>ICMP ping gives latency_ms for the current device.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7351776" y="5138928"/>
            <a:ext cx="4297680" cy="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38328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Extension / Issues Fixed / Evaluation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9496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What was added beyond the basic pipeline and how it was validated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216152"/>
            <a:ext cx="1920240" cy="246888"/>
          </a:xfrm>
          <a:prstGeom prst="roundRect">
            <a:avLst>
              <a:gd name="adj" fmla="val 22222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248156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EXTENSIONS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85216" y="1572768"/>
            <a:ext cx="50749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16280" y="1668780"/>
            <a:ext cx="347472" cy="347472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07136" y="1668780"/>
            <a:ext cx="347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70432" y="1719072"/>
            <a:ext cx="4325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0D1B2A"/>
                </a:solidFill>
              </a:rPr>
              <a:t>Multi-device support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749808" y="2039112"/>
            <a:ext cx="474573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72033"/>
                </a:solidFill>
              </a:rPr>
              <a:t>Collector iterates over a configurable device list; device state is tracked independently.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585216" y="2788920"/>
            <a:ext cx="50749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07136" y="2871216"/>
            <a:ext cx="347472" cy="347472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07136" y="2853759"/>
            <a:ext cx="347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70432" y="2935224"/>
            <a:ext cx="4325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0D1B2A"/>
                </a:solidFill>
              </a:rPr>
              <a:t>Persistent telemetry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749808" y="3255264"/>
            <a:ext cx="474573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72033"/>
                </a:solidFill>
              </a:rPr>
              <a:t>Backend writes every received metric to PostgreSQL for historical analysis.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053328" y="1572768"/>
            <a:ext cx="50749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153912" y="1660883"/>
            <a:ext cx="347472" cy="347472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53912" y="1653402"/>
            <a:ext cx="347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38544" y="1719072"/>
            <a:ext cx="4325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0D1B2A"/>
                </a:solidFill>
              </a:rPr>
              <a:t>REST access / export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6217920" y="2039112"/>
            <a:ext cx="474573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72033"/>
                </a:solidFill>
              </a:rPr>
              <a:t>FastAPI exposes JSON retrieval and CSV export endpoints.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053328" y="2788920"/>
            <a:ext cx="50749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168044" y="2887841"/>
            <a:ext cx="347472" cy="347472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173863" y="2875788"/>
            <a:ext cx="347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38544" y="2935224"/>
            <a:ext cx="4325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0D1B2A"/>
                </a:solidFill>
              </a:rPr>
              <a:t>Grafana monitoring</a:t>
            </a:r>
            <a:endParaRPr lang="en-US" sz="1230" dirty="0"/>
          </a:p>
        </p:txBody>
      </p:sp>
      <p:sp>
        <p:nvSpPr>
          <p:cNvPr id="25" name="Text 23"/>
          <p:cNvSpPr/>
          <p:nvPr/>
        </p:nvSpPr>
        <p:spPr>
          <a:xfrm>
            <a:off x="6217920" y="3255264"/>
            <a:ext cx="474573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72033"/>
                </a:solidFill>
              </a:rPr>
              <a:t>Manual datasource + dashboards show bandwidth, utilization and latency; alert rules are demonstrated in Grafana.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585216" y="4160520"/>
            <a:ext cx="2331720" cy="246888"/>
          </a:xfrm>
          <a:prstGeom prst="roundRect">
            <a:avLst>
              <a:gd name="adj" fmla="val 22222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58368" y="4192524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ISSUES FIXED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585216" y="45262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EA580C"/>
                </a:solidFill>
              </a:rPr>
              <a:t>• SNMP counters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2066544" y="452628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72033"/>
                </a:solidFill>
              </a:rPr>
              <a:t>Moved from 32-bit octets to high-capacity 64-bit counters for better robustness at high rates.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6071616" y="45262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EA580C"/>
                </a:solidFill>
              </a:rPr>
              <a:t>• Counter reset/wrap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7552944" y="452628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72033"/>
                </a:solidFill>
              </a:rPr>
              <a:t>A smaller current counter is treated as a reset/wrap; invalid negative bandwidth is not generated.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585216" y="529437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EA580C"/>
                </a:solidFill>
              </a:rPr>
              <a:t>• Docker service discovery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2066544" y="529437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72033"/>
                </a:solidFill>
              </a:rPr>
              <a:t>Collector uses Compose service names (e.g. backend, snmp-device) instead of hard-coded container IPs.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6071616" y="529437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EA580C"/>
                </a:solidFill>
              </a:rPr>
              <a:t>• DB startup dependency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7552944" y="529437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72033"/>
                </a:solidFill>
              </a:rPr>
              <a:t>PostgreSQL healthcheck is used before backend/API startup; init.sql creates the telemetry table on fresh DB initialization.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9921240" y="1572768"/>
            <a:ext cx="1755648" cy="1024128"/>
          </a:xfrm>
          <a:prstGeom prst="roundRect">
            <a:avLst>
              <a:gd name="adj" fmla="val 7143"/>
            </a:avLst>
          </a:prstGeom>
          <a:solidFill>
            <a:srgbClr val="F0FDF4"/>
          </a:solidFill>
          <a:ln w="12700">
            <a:solidFill>
              <a:srgbClr val="B7E1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0058400" y="175564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803D"/>
                </a:solidFill>
              </a:rPr>
              <a:t>VALIDATED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58400" y="208483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72033"/>
                </a:solidFill>
              </a:rPr>
              <a:t>SNMP → Collector → gRPC → Backend → DB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9802368" y="2907792"/>
            <a:ext cx="19385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End-to-end telemetry flow successfully demonstrated during development.</a:t>
            </a:r>
            <a:endParaRPr lang="en-US" sz="10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38328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Non-Functional Testing Parameters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9496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Performance, scalability, reliability and observability checks used during development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1993392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FFFFFF"/>
                </a:solidFill>
              </a:rPr>
              <a:t>Parameter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2743200" y="1325880"/>
            <a:ext cx="4818888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816352" y="1444752"/>
            <a:ext cx="467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FFFFFF"/>
                </a:solidFill>
              </a:rPr>
              <a:t>What we tested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7726680" y="1325880"/>
            <a:ext cx="3886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799832" y="1444752"/>
            <a:ext cx="3739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FFFFFF"/>
                </a:solidFill>
              </a:rPr>
              <a:t>Observed / design target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566928" y="1783080"/>
            <a:ext cx="1993392" cy="61264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1874520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0D1B2A"/>
                </a:solidFill>
              </a:rPr>
              <a:t>Collection interval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2743200" y="1783080"/>
            <a:ext cx="4818888" cy="61264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816352" y="1874520"/>
            <a:ext cx="4672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72033"/>
                </a:solidFill>
              </a:rPr>
              <a:t>Regular polling of each configured device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7726680" y="1783080"/>
            <a:ext cx="3886200" cy="61264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799832" y="1874520"/>
            <a:ext cx="3739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72033"/>
                </a:solidFill>
              </a:rPr>
              <a:t>5-second loop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566928" y="2395728"/>
            <a:ext cx="1993392" cy="612648"/>
          </a:xfrm>
          <a:prstGeom prst="rect">
            <a:avLst/>
          </a:prstGeom>
          <a:solidFill>
            <a:srgbClr val="F1F5F9"/>
          </a:solidFill>
          <a:ln w="1016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248716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0D1B2A"/>
                </a:solidFill>
              </a:rPr>
              <a:t>Metric accuracy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2743200" y="2395728"/>
            <a:ext cx="4818888" cy="612648"/>
          </a:xfrm>
          <a:prstGeom prst="rect">
            <a:avLst/>
          </a:prstGeom>
          <a:solidFill>
            <a:srgbClr val="F1F5F9"/>
          </a:solidFill>
          <a:ln w="1016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816352" y="2487168"/>
            <a:ext cx="4672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72033"/>
                </a:solidFill>
              </a:rPr>
              <a:t>Counter difference + elapsed-time calculation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7726680" y="2395728"/>
            <a:ext cx="3886200" cy="612648"/>
          </a:xfrm>
          <a:prstGeom prst="rect">
            <a:avLst/>
          </a:prstGeom>
          <a:solidFill>
            <a:srgbClr val="F1F5F9"/>
          </a:solidFill>
          <a:ln w="1016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799832" y="2487168"/>
            <a:ext cx="3739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72033"/>
                </a:solidFill>
              </a:rPr>
              <a:t>bps and utilization derived from SNMP counters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66928" y="3008376"/>
            <a:ext cx="1993392" cy="61264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0080" y="309981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0D1B2A"/>
                </a:solidFill>
              </a:rPr>
              <a:t>Latency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2743200" y="3008376"/>
            <a:ext cx="4818888" cy="61264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816352" y="3099816"/>
            <a:ext cx="4672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72033"/>
                </a:solidFill>
              </a:rPr>
              <a:t>ICMP response time collected per device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7726680" y="3008376"/>
            <a:ext cx="3886200" cy="61264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799832" y="3099816"/>
            <a:ext cx="3739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72033"/>
                </a:solidFill>
              </a:rPr>
              <a:t>latency_ms stored with each telemetry point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566928" y="3621024"/>
            <a:ext cx="1993392" cy="612648"/>
          </a:xfrm>
          <a:prstGeom prst="rect">
            <a:avLst/>
          </a:prstGeom>
          <a:solidFill>
            <a:srgbClr val="F1F5F9"/>
          </a:solidFill>
          <a:ln w="1016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0080" y="3712464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0D1B2A"/>
                </a:solidFill>
              </a:rPr>
              <a:t>Scalability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2743200" y="3621024"/>
            <a:ext cx="4818888" cy="612648"/>
          </a:xfrm>
          <a:prstGeom prst="rect">
            <a:avLst/>
          </a:prstGeom>
          <a:solidFill>
            <a:srgbClr val="F1F5F9"/>
          </a:solidFill>
          <a:ln w="1016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816352" y="3712464"/>
            <a:ext cx="4672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72033"/>
                </a:solidFill>
              </a:rPr>
              <a:t>Add another device without new collector logic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7726680" y="3621024"/>
            <a:ext cx="3886200" cy="612648"/>
          </a:xfrm>
          <a:prstGeom prst="rect">
            <a:avLst/>
          </a:prstGeom>
          <a:solidFill>
            <a:srgbClr val="F1F5F9"/>
          </a:solidFill>
          <a:ln w="1016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799832" y="3712464"/>
            <a:ext cx="3739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72033"/>
                </a:solidFill>
              </a:rPr>
              <a:t>Extend device configuration list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566928" y="4233672"/>
            <a:ext cx="1993392" cy="61264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40080" y="432511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0D1B2A"/>
                </a:solidFill>
              </a:rPr>
              <a:t>Reliability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2743200" y="4233672"/>
            <a:ext cx="4818888" cy="61264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816352" y="4325112"/>
            <a:ext cx="4672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72033"/>
                </a:solidFill>
              </a:rPr>
              <a:t>Handle SNMP errors and counter resets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7726680" y="4233672"/>
            <a:ext cx="3886200" cy="61264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799832" y="4325112"/>
            <a:ext cx="3739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72033"/>
                </a:solidFill>
              </a:rPr>
              <a:t>Skip invalid reading; avoid negative bandwidth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566928" y="4846320"/>
            <a:ext cx="1993392" cy="612648"/>
          </a:xfrm>
          <a:prstGeom prst="rect">
            <a:avLst/>
          </a:prstGeom>
          <a:solidFill>
            <a:srgbClr val="F1F5F9"/>
          </a:solidFill>
          <a:ln w="1016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40080" y="4937760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0D1B2A"/>
                </a:solidFill>
              </a:rPr>
              <a:t>Service isolation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2743200" y="4846320"/>
            <a:ext cx="4818888" cy="612648"/>
          </a:xfrm>
          <a:prstGeom prst="rect">
            <a:avLst/>
          </a:prstGeom>
          <a:solidFill>
            <a:srgbClr val="F1F5F9"/>
          </a:solidFill>
          <a:ln w="1016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2816352" y="4937760"/>
            <a:ext cx="4672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72033"/>
                </a:solidFill>
              </a:rPr>
              <a:t>Run components independently in Docker</a:t>
            </a:r>
            <a:endParaRPr lang="en-US" sz="930" dirty="0"/>
          </a:p>
        </p:txBody>
      </p:sp>
      <p:sp>
        <p:nvSpPr>
          <p:cNvPr id="44" name="Shape 42"/>
          <p:cNvSpPr/>
          <p:nvPr/>
        </p:nvSpPr>
        <p:spPr>
          <a:xfrm>
            <a:off x="7726680" y="4846320"/>
            <a:ext cx="3886200" cy="612648"/>
          </a:xfrm>
          <a:prstGeom prst="rect">
            <a:avLst/>
          </a:prstGeom>
          <a:solidFill>
            <a:srgbClr val="F1F5F9"/>
          </a:solidFill>
          <a:ln w="1016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799832" y="4937760"/>
            <a:ext cx="3739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72033"/>
                </a:solidFill>
              </a:rPr>
              <a:t>SNMP, collector, backend, API, DB, Grafana separated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566928" y="5458968"/>
            <a:ext cx="1993392" cy="61264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40080" y="555040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0D1B2A"/>
                </a:solidFill>
              </a:rPr>
              <a:t>Historical access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2743200" y="5458968"/>
            <a:ext cx="4818888" cy="61264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2816352" y="5550408"/>
            <a:ext cx="4672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72033"/>
                </a:solidFill>
              </a:rPr>
              <a:t>Persist and retrieve telemetry</a:t>
            </a:r>
            <a:endParaRPr lang="en-US" sz="930" dirty="0"/>
          </a:p>
        </p:txBody>
      </p:sp>
      <p:sp>
        <p:nvSpPr>
          <p:cNvPr id="50" name="Shape 48"/>
          <p:cNvSpPr/>
          <p:nvPr/>
        </p:nvSpPr>
        <p:spPr>
          <a:xfrm>
            <a:off x="7726680" y="5458968"/>
            <a:ext cx="3886200" cy="61264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7799832" y="5550408"/>
            <a:ext cx="3739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72033"/>
                </a:solidFill>
              </a:rPr>
              <a:t>PostgreSQL + REST + CSV export</a:t>
            </a:r>
            <a:endParaRPr lang="en-US" sz="930" dirty="0"/>
          </a:p>
        </p:txBody>
      </p:sp>
      <p:sp>
        <p:nvSpPr>
          <p:cNvPr id="52" name="Text 50"/>
          <p:cNvSpPr/>
          <p:nvPr/>
        </p:nvSpPr>
        <p:spPr>
          <a:xfrm>
            <a:off x="585216" y="615391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69AA"/>
                </a:solidFill>
              </a:rPr>
              <a:t>Viva evaluation focus: demonstrate the live pipeline, database persistence, REST response/export, Grafana trends and one alert rule reaching FIRING.</a:t>
            </a:r>
            <a:endParaRPr lang="en-US" sz="105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38328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Challenges Faced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9496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Technical difficulties encountered while building and integrating the framework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85216" y="1353312"/>
            <a:ext cx="5138928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517904"/>
            <a:ext cx="457200" cy="457200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49808" y="16002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35024" y="1499616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0D1B2A"/>
                </a:solidFill>
              </a:rPr>
              <a:t>Understanding SNMP data model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1335024" y="1792224"/>
            <a:ext cx="4133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72033"/>
                </a:solidFill>
              </a:rPr>
              <a:t>Mapping MIB concepts and OIDs to practical interface metrics such as high-capacity octet counters and interface speed.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585216" y="2706624"/>
            <a:ext cx="5138928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49808" y="2871216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49808" y="29535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35024" y="2852928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0D1B2A"/>
                </a:solidFill>
              </a:rPr>
              <a:t>Turning counters into rates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1335024" y="3145536"/>
            <a:ext cx="4133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72033"/>
                </a:solidFill>
              </a:rPr>
              <a:t>SNMP exposes cumulative counters, so correct bandwidth required previous/current samples, elapsed time and unit conversion.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85216" y="4059936"/>
            <a:ext cx="5138928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49808" y="4224528"/>
            <a:ext cx="457200" cy="457200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49808" y="430682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35024" y="4206240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0D1B2A"/>
                </a:solidFill>
              </a:rPr>
              <a:t>Docker networking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1335024" y="4498848"/>
            <a:ext cx="4133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72033"/>
                </a:solidFill>
              </a:rPr>
              <a:t>Understanding bridge networks, container DNS/service names, volume mounts and the difference between host ports and container ports.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163056" y="1353312"/>
            <a:ext cx="5138928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327648" y="1517904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327648" y="16002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12864" y="1499616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0D1B2A"/>
                </a:solidFill>
              </a:rPr>
              <a:t>gRPC integration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6912864" y="1792224"/>
            <a:ext cx="4133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72033"/>
                </a:solidFill>
              </a:rPr>
              <a:t>Defining telemetry.proto, generating Python gRPC/protobuf files, and keeping collector/backend imports and contracts consistent.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163056" y="2706624"/>
            <a:ext cx="5138928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327648" y="2871216"/>
            <a:ext cx="457200" cy="457200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27648" y="29535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12864" y="2852928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0D1B2A"/>
                </a:solidFill>
              </a:rPr>
              <a:t>Database + startup coordination</a:t>
            </a:r>
            <a:endParaRPr lang="en-US" sz="1140" dirty="0"/>
          </a:p>
        </p:txBody>
      </p:sp>
      <p:sp>
        <p:nvSpPr>
          <p:cNvPr id="28" name="Text 26"/>
          <p:cNvSpPr/>
          <p:nvPr/>
        </p:nvSpPr>
        <p:spPr>
          <a:xfrm>
            <a:off x="6912864" y="3145536"/>
            <a:ext cx="4133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72033"/>
                </a:solidFill>
              </a:rPr>
              <a:t>Making PostgreSQL persistent, creating the telemetry schema automatically on fresh initialization, and waiting for DB readiness before backend/API.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163056" y="4059936"/>
            <a:ext cx="5138928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327648" y="422452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327648" y="430682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12864" y="4206240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0D1B2A"/>
                </a:solidFill>
              </a:rPr>
              <a:t>Reliable demonstration</a:t>
            </a:r>
            <a:endParaRPr lang="en-US" sz="1140" dirty="0"/>
          </a:p>
        </p:txBody>
      </p:sp>
      <p:sp>
        <p:nvSpPr>
          <p:cNvPr id="33" name="Text 31"/>
          <p:cNvSpPr/>
          <p:nvPr/>
        </p:nvSpPr>
        <p:spPr>
          <a:xfrm>
            <a:off x="6912864" y="4498848"/>
            <a:ext cx="4133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72033"/>
                </a:solidFill>
              </a:rPr>
              <a:t>Keeping the architecture simple enough for a viva while still showing multiple devices, real telemetry flow, dashboards and alert firing.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640080" y="571500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Closing message: one modular pipeline, two simulated SNMP devices, persistent telemetry, API access, Grafana visualization and threshold alerting.</a:t>
            </a:r>
            <a:endParaRPr lang="en-US" sz="12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770</Words>
  <Application>Microsoft Office PowerPoint</Application>
  <PresentationFormat>Widescreen</PresentationFormat>
  <Paragraphs>139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Academic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Telemetry &amp; Monitoring Framework</dc:title>
  <dc:subject>Network Telemetry and Monitoring Framework</dc:subject>
  <dc:creator>OpenAI</dc:creator>
  <cp:lastModifiedBy>BHAVA RAM BUSA</cp:lastModifiedBy>
  <cp:revision>2</cp:revision>
  <dcterms:created xsi:type="dcterms:W3CDTF">2026-09-10T12:05:56Z</dcterms:created>
  <dcterms:modified xsi:type="dcterms:W3CDTF">2026-09-10T12:20:05Z</dcterms:modified>
</cp:coreProperties>
</file>